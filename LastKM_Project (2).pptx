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13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7313E"/>
                </a:solidFill>
                <a:latin typeface="Arial"/>
              </a:rPr>
              <a:t>Cost per Delivery (Sample Route)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(₹)</c:v>
                </c:pt>
              </c:strCache>
            </c:strRef>
          </c:tx>
          <c:spPr>
            <a:solidFill>
              <a:srgbClr val="5C7A82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C7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924-417A-B7D1-EFE17BA22129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924-417A-B7D1-EFE17BA22129}"/>
              </c:ext>
            </c:extLst>
          </c:dPt>
          <c:dLbls>
            <c:numFmt formatCode="&quot;₹&quot;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731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Dedicated Delivery</c:v>
                </c:pt>
                <c:pt idx="1">
                  <c:v>LastKM Backhaul Rate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24-417A-B7D1-EFE17BA221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1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F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130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20640"/>
            <a:ext cx="103327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685800" y="4828032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/home/claude/lastkm/icons/map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4970678"/>
            <a:ext cx="309067" cy="30906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881360" y="4828032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1" descr="/home/claude/lastkm/icons/map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4006" y="4970678"/>
            <a:ext cx="309067" cy="30906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0" y="448056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2" descr="/home/claude/lastkm/icons/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802" y="4721962"/>
            <a:ext cx="523037" cy="5230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LastKM</a:t>
            </a:r>
            <a:endParaRPr lang="en-US" sz="6000" dirty="0"/>
          </a:p>
        </p:txBody>
      </p:sp>
      <p:sp>
        <p:nvSpPr>
          <p:cNvPr id="10" name="Text 5"/>
          <p:cNvSpPr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Backhaul Matching for Community Good</a:t>
            </a:r>
            <a:endParaRPr lang="en-US" sz="2200" dirty="0"/>
          </a:p>
        </p:txBody>
      </p:sp>
      <p:sp>
        <p:nvSpPr>
          <p:cNvPr id="11" name="Shape 6"/>
          <p:cNvSpPr/>
          <p:nvPr/>
        </p:nvSpPr>
        <p:spPr>
          <a:xfrm>
            <a:off x="822960" y="36576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12" name="Text 7"/>
          <p:cNvSpPr/>
          <p:nvPr/>
        </p:nvSpPr>
        <p:spPr>
          <a:xfrm>
            <a:off x="82296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11: Sustainable Cities   •   SDG 12: Responsible Consumption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22960" y="5970118"/>
            <a:ext cx="7315200" cy="3785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b="1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Alekh kumar</a:t>
            </a:r>
            <a:r>
              <a:rPr lang="en-US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 </a:t>
            </a:r>
            <a:r>
              <a:rPr lang="en-US" b="1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b="1" dirty="0"/>
          </a:p>
        </p:txBody>
      </p:sp>
      <p:sp>
        <p:nvSpPr>
          <p:cNvPr id="14" name="Text 9"/>
          <p:cNvSpPr/>
          <p:nvPr/>
        </p:nvSpPr>
        <p:spPr>
          <a:xfrm>
            <a:off x="914400" y="6348679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  |  IBM SkillsBuild &amp; AICTE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675120" cy="2743200"/>
          </a:xfrm>
          <a:prstGeom prst="roundRect">
            <a:avLst>
              <a:gd name="adj" fmla="val 4000"/>
            </a:avLst>
          </a:prstGeom>
          <a:solidFill>
            <a:srgbClr val="F2F8F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6035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we use AI </a:t>
            </a: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match empty-return delivery trips</a:t>
            </a:r>
            <a:r>
              <a:rPr lang="en-US" sz="1900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with local community transport needs, so that urban logistics can become </a:t>
            </a: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sustainable and inclusive?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delivery vehicles run their return trips empty every day — wasting fuel, time, and income opportunity, while individuals, students, shopkeepers, and NGOs nearby struggle to find affordable transport.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43800" y="1234440"/>
            <a:ext cx="4069080" cy="4937760"/>
          </a:xfrm>
          <a:prstGeom prst="roundRect">
            <a:avLst>
              <a:gd name="adj" fmla="val 2697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0" y="192024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35–40%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909560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8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urban delivery return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8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run completely empty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3840480"/>
            <a:ext cx="2880360" cy="0"/>
          </a:xfrm>
          <a:prstGeom prst="line">
            <a:avLst/>
          </a:prstGeom>
          <a:noFill/>
          <a:ln w="12700">
            <a:solidFill>
              <a:srgbClr val="2FA79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89720" y="41148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0" descr="/home/claude/lastkm/icons/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230" y="4312310"/>
            <a:ext cx="427939" cy="42793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18120" y="51206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E7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already being driven —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E7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without a passenger for it.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LastKM  |  AI for Sustainability Virtual Internship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— Stage 1: Empathize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47088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lastkm/icons/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2044598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7373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Delivery Drivers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65960" y="2176272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fuel, time, and potential income on every empty return trip — with no system to recover it.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2F8F7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447288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lastkm/icons/ha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" y="3644798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33375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Individuals, Students, Shopkeepers &amp; NGOs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965960" y="3776472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a small, non-perishable delivery need struggles to find affordable, reliable transport — not just large organisations.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2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5047488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claude/lastkm/icons/le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" y="5244998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9377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Environment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65960" y="5376672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the cost of unnecessary emissions from vehicles running kilometres with zero payload.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LastKM  |  AI for Sustainability Virtual Internship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Solution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lastkm/icons/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1525219"/>
            <a:ext cx="332842" cy="3328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441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17320" y="171907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nearby empty-return routes and matches them to pickup/drop requests on the way.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lastkm/icons/map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2942539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7614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Map-Based Booking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17320" y="313639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pins a pickup and drop location — Rapido/Maps-style — so the flow feels instantly familiar.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2062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/home/claude/lastkm/icons/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" y="435985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1788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Tracking + Pre-Arrival Alerts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17320" y="455371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track the trip live; the receiver is notified minutes before arrival, so the driver never waits.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537960" y="1280160"/>
            <a:ext cx="5074920" cy="4846320"/>
          </a:xfrm>
          <a:prstGeom prst="roundRect">
            <a:avLst>
              <a:gd name="adj" fmla="val 2642"/>
            </a:avLst>
          </a:prstGeom>
          <a:solidFill>
            <a:srgbClr val="17313E"/>
          </a:solidFill>
          <a:ln/>
        </p:spPr>
      </p:sp>
      <p:sp>
        <p:nvSpPr>
          <p:cNvPr id="16" name="Text 11"/>
          <p:cNvSpPr/>
          <p:nvPr/>
        </p:nvSpPr>
        <p:spPr>
          <a:xfrm>
            <a:off x="6858000" y="14813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9D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Route View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589520" y="3017520"/>
            <a:ext cx="2926080" cy="2103120"/>
          </a:xfrm>
          <a:prstGeom prst="line">
            <a:avLst/>
          </a:prstGeom>
          <a:noFill/>
          <a:ln w="38100">
            <a:solidFill>
              <a:srgbClr val="00A896"/>
            </a:solidFill>
            <a:prstDash val="dash"/>
            <a:headEnd type="none"/>
            <a:tailEnd type="none"/>
          </a:ln>
        </p:spPr>
      </p:sp>
      <p:sp>
        <p:nvSpPr>
          <p:cNvPr id="18" name="Shape 13"/>
          <p:cNvSpPr/>
          <p:nvPr/>
        </p:nvSpPr>
        <p:spPr>
          <a:xfrm>
            <a:off x="7223760" y="26517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3" descr="/home/claude/lastkm/icons/map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461" y="277246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818120" y="2697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Pickup: Priya (Student), Sector 15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966960" y="47091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4" descr="/home/claude/lastkm/icons/map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7661" y="4829861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98080" y="5138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Drop: Sector 12 Community Hall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869680" y="37033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5" descr="/home/claude/lastkm/icons/tru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2326" y="3845966"/>
            <a:ext cx="309067" cy="309067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858000" y="5623560"/>
            <a:ext cx="4572000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</p:sp>
      <p:sp>
        <p:nvSpPr>
          <p:cNvPr id="27" name="Text 19"/>
          <p:cNvSpPr/>
          <p:nvPr/>
        </p:nvSpPr>
        <p:spPr>
          <a:xfrm>
            <a:off x="6858000" y="56235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5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8 min — receiver notified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LastKM  |  AI for Sustainability Virtual Internship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Safety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both a sender and a driver are trusting a stranger with something real.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93592" cy="4206240"/>
          </a:xfrm>
          <a:prstGeom prst="roundRect">
            <a:avLst>
              <a:gd name="adj" fmla="val 3053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1892808" y="17830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lastkm/icons/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64" y="200253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34640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Two-Way Rating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295351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and driver rate each other after every completed delivery, just like ride-hailing apps.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25112" y="1508760"/>
            <a:ext cx="3593592" cy="4206240"/>
          </a:xfrm>
          <a:prstGeom prst="roundRect">
            <a:avLst>
              <a:gd name="adj" fmla="val 3053"/>
            </a:avLst>
          </a:prstGeom>
          <a:solidFill>
            <a:srgbClr val="F2F8F7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0" y="178308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lastkm/icons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200253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834640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Declaration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45152" y="3383280"/>
            <a:ext cx="295351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photo + description of the item is logged before pickup — no surprises for the driver.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01584" y="1508760"/>
            <a:ext cx="3593592" cy="4206240"/>
          </a:xfrm>
          <a:prstGeom prst="roundRect">
            <a:avLst>
              <a:gd name="adj" fmla="val 3053"/>
            </a:avLst>
          </a:prstGeom>
          <a:solidFill>
            <a:srgbClr val="F2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445752" y="178308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claude/lastkm/icons/shield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208" y="200253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2834640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Match Filtering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21624" y="3383280"/>
            <a:ext cx="295351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Low-rated or flagged users are automatically deprioritised or excluded from new matches.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LastKM  |  AI for Sustainability Virtual Internship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&amp; Dynamic Pricing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win-win rate: the driver earns more than the ₹0 they made before, the sender pays less than a dedicated delivery.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53949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5544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653796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Formula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37960" y="20116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Marginal cost (fuel + time)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small incentive margin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60–65% of dedicated rate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3640" y="34747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2F8F7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370332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0" descr="/home/claude/lastkm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86791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37033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Off-Peak Incentive Boost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0" y="406908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Low-demand time slots (e.g. late evening) get a higher incentive share, so drivers stay motivated to serve every route, not just the busy ones.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sender saves ~₹65 per delivery  •  driver earns ₹115 they would otherwise never have made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LastKM  |  AI for Sustainability Virtual Internship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Awareness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matches on available space too — not just an available route.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lastkm/icons/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77393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002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confirming a match, the driver logs how much free space is available — a couple of small boxes, a crate, or a bag.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91640" y="29260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only suggests requests that realistically fit — no overloading, no rejected matches at pickup.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92240" y="155448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17313E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9D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Logic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66560" y="2240280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0C4A4E"/>
          </a:solidFill>
          <a:ln/>
        </p:spPr>
      </p:sp>
      <p:sp>
        <p:nvSpPr>
          <p:cNvPr id="11" name="Text 8"/>
          <p:cNvSpPr/>
          <p:nvPr/>
        </p:nvSpPr>
        <p:spPr>
          <a:xfrm>
            <a:off x="6949440" y="2359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49440" y="26060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Sector 12 → 15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space: 2 small boxes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window: 6:00–6:30 PM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66560" y="3794760"/>
            <a:ext cx="4572000" cy="1828800"/>
          </a:xfrm>
          <a:prstGeom prst="roundRect">
            <a:avLst>
              <a:gd name="adj" fmla="val 4000"/>
            </a:avLst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6949440" y="3913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49440" y="416052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found: Sharma Kirana Store pickup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within space &amp; time.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rate: ₹115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scheduled: driver 8 min out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LastKM  |  AI for Sustainability Virtual Internship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450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2834640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registers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route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40280" y="3063240"/>
            <a:ext cx="201168" cy="0"/>
          </a:xfrm>
          <a:prstGeom prst="line">
            <a:avLst/>
          </a:prstGeom>
          <a:noFill/>
          <a:ln w="25400">
            <a:solidFill>
              <a:srgbClr val="5C7A8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41448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2532888" y="2450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51176" y="2834640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nearby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pickup/drop requests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33088" y="3063240"/>
            <a:ext cx="201168" cy="0"/>
          </a:xfrm>
          <a:prstGeom prst="line">
            <a:avLst/>
          </a:prstGeom>
          <a:noFill/>
          <a:ln w="25400">
            <a:solidFill>
              <a:srgbClr val="5C7A8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34256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425696" y="2450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43984" y="2834640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+ fair price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to both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5896" y="3063240"/>
            <a:ext cx="201168" cy="0"/>
          </a:xfrm>
          <a:prstGeom prst="line">
            <a:avLst/>
          </a:prstGeom>
          <a:noFill/>
          <a:ln w="25400">
            <a:solidFill>
              <a:srgbClr val="5C7A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27064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2450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36792" y="2834640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18704" y="3063240"/>
            <a:ext cx="201168" cy="0"/>
          </a:xfrm>
          <a:prstGeom prst="line">
            <a:avLst/>
          </a:prstGeom>
          <a:noFill/>
          <a:ln w="25400">
            <a:solidFill>
              <a:srgbClr val="5C7A8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19872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211312" y="2450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0" y="2834640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 +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pre-arrival alert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811512" y="3063240"/>
            <a:ext cx="201168" cy="0"/>
          </a:xfrm>
          <a:prstGeom prst="line">
            <a:avLst/>
          </a:prstGeom>
          <a:noFill/>
          <a:ln w="25400">
            <a:solidFill>
              <a:srgbClr val="5C7A8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12680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10104120" y="2450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122408" y="2834640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done,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rate the trip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browser demo runs this exact matching engine live — route, capacity, and time scores are calculated in real time, with an AI-generated explanation for every match.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9377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0" descr="/home/claude/lastkm/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5113325"/>
            <a:ext cx="380390" cy="38039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463040" y="50292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is used to draft the matching + pricing logic, and to generate this workflow structure during the ideation and prototyping stage.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LastKM  |  AI for Sustainability Virtual Internship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Considerations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2F8F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lastkm/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192389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pricing formula applies to every driver and sender — no bias based on identity or history.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46304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2F8F7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173736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/home/claude/lastkm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192389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537960" y="2606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suggested price shows its breakdown: fuel/time cost + margin — never a black-box number.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2F8F7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02336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/home/claude/lastkm/icons/gav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8" y="420989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023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68680" y="4892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 bypass. Only declared, non-restricted, non-perishable items are allowed on a match.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17920" y="374904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2F8F7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40233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/home/claude/lastkm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778" y="4209898"/>
            <a:ext cx="404165" cy="4041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4023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537960" y="4892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 is shared only during the active delivery window and is not stored once it is complete.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LastKM  |  AI for Sustainability Virtual Internship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93592" cy="4297680"/>
          </a:xfrm>
          <a:prstGeom prst="roundRect">
            <a:avLst>
              <a:gd name="adj" fmla="val 3053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1892808" y="1783080"/>
            <a:ext cx="914400" cy="914400"/>
          </a:xfrm>
          <a:prstGeom prst="ellipse">
            <a:avLst/>
          </a:prstGeom>
          <a:solidFill>
            <a:srgbClr val="053B3F"/>
          </a:solidFill>
          <a:ln/>
        </p:spPr>
      </p:sp>
      <p:pic>
        <p:nvPicPr>
          <p:cNvPr id="5" name="Image 0" descr="/home/claude/lastkm/icons/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64" y="200253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88036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295351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income for delivery drivers; lower transport cost for individuals, shopkeepers, students, and NGOs.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25112" y="1463040"/>
            <a:ext cx="3593592" cy="4297680"/>
          </a:xfrm>
          <a:prstGeom prst="roundRect">
            <a:avLst>
              <a:gd name="adj" fmla="val 3053"/>
            </a:avLst>
          </a:prstGeom>
          <a:solidFill>
            <a:srgbClr val="00A896"/>
          </a:solidFill>
          <a:ln/>
        </p:spPr>
      </p:sp>
      <p:sp>
        <p:nvSpPr>
          <p:cNvPr id="9" name="Shape 6"/>
          <p:cNvSpPr/>
          <p:nvPr/>
        </p:nvSpPr>
        <p:spPr>
          <a:xfrm>
            <a:off x="5669280" y="1783080"/>
            <a:ext cx="914400" cy="914400"/>
          </a:xfrm>
          <a:prstGeom prst="ellipse">
            <a:avLst/>
          </a:prstGeom>
          <a:solidFill>
            <a:srgbClr val="053B3F"/>
          </a:solidFill>
          <a:ln/>
        </p:spPr>
      </p:sp>
      <p:pic>
        <p:nvPicPr>
          <p:cNvPr id="10" name="Image 1" descr="/home/claude/lastkm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2002536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53712" y="288036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45152" y="3383280"/>
            <a:ext cx="295351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affordable local transport access for community groups and non-profits.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01584" y="1463040"/>
            <a:ext cx="3593592" cy="4297680"/>
          </a:xfrm>
          <a:prstGeom prst="roundRect">
            <a:avLst>
              <a:gd name="adj" fmla="val 3053"/>
            </a:avLst>
          </a:prstGeom>
          <a:solidFill>
            <a:srgbClr val="02C39A"/>
          </a:solidFill>
          <a:ln/>
        </p:spPr>
      </p:sp>
      <p:sp>
        <p:nvSpPr>
          <p:cNvPr id="14" name="Shape 10"/>
          <p:cNvSpPr/>
          <p:nvPr/>
        </p:nvSpPr>
        <p:spPr>
          <a:xfrm>
            <a:off x="9445752" y="1783080"/>
            <a:ext cx="914400" cy="914400"/>
          </a:xfrm>
          <a:prstGeom prst="ellipse">
            <a:avLst/>
          </a:prstGeom>
          <a:solidFill>
            <a:srgbClr val="053B3F"/>
          </a:solidFill>
          <a:ln/>
        </p:spPr>
      </p:sp>
      <p:pic>
        <p:nvPicPr>
          <p:cNvPr id="15" name="Image 2" descr="/home/claude/lastkm/icons/tr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208" y="2002536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30184" y="288036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421624" y="3383280"/>
            <a:ext cx="295351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unnecessary empty trips on the road, reducing avoidable fuel use and emissions.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LastKM  |  AI for Sustainability Virtual Internship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 &amp; 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honestly about what this system can — and cannot — do today.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C7A82"/>
          </a:solidFill>
          <a:ln/>
        </p:spPr>
      </p:sp>
      <p:pic>
        <p:nvPicPr>
          <p:cNvPr id="6" name="Image 0" descr="/home/claude/lastkm/icons/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19586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74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Scope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LastKM works today only for non-perishable, small-to-medium items: books, clothes, stationery, dry goods, and similar community supplies — no cold chain or temperature control involved.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26480" y="150876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028090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1783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lastkm/icons/snowflake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95681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74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265176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7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Temperature-sensitive cargo — medicines, vaccines, perishable food — is intentionally out of scope for now. Extending to this would need a separate, verified cold-chain fleet with proper certification and regulatory compliance, not a random matched vehicle.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LastKM  |  AI for Sustainability Virtual Internship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3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lastkm/icons/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4" y="1517904"/>
            <a:ext cx="713232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LastKM — turning empty trips into shared opportunity.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1017</Words>
  <Application>Microsoft Office PowerPoint</Application>
  <PresentationFormat>Widescreen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alekh kumar</cp:lastModifiedBy>
  <cp:revision>3</cp:revision>
  <dcterms:created xsi:type="dcterms:W3CDTF">2026-08-25T05:45:16Z</dcterms:created>
  <dcterms:modified xsi:type="dcterms:W3CDTF">2026-08-25T05:59:21Z</dcterms:modified>
</cp:coreProperties>
</file>